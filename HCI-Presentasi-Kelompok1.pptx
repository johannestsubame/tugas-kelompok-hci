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4"/>
  </p:notesMasterIdLst>
  <p:sldIdLst>
    <p:sldId id="256" r:id="rId2"/>
    <p:sldId id="257" r:id="rId3"/>
  </p:sldIdLst>
  <p:sldSz cx="12192000" cy="6858000"/>
  <p:notesSz cx="6858000" cy="9144000"/>
  <p:defaultTextStyle>
    <a:defPPr>
      <a:defRPr lang="id-ID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3E2F7"/>
    <a:srgbClr val="010203"/>
    <a:srgbClr val="2D294B"/>
    <a:srgbClr val="0E243C"/>
    <a:srgbClr val="090630"/>
    <a:srgbClr val="0E246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>
        <p:scale>
          <a:sx n="52" d="100"/>
          <a:sy n="52" d="100"/>
        </p:scale>
        <p:origin x="226" y="63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id-ID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84805DC-2E29-40E7-92EF-09F34E201186}" type="datetimeFigureOut">
              <a:rPr lang="id-ID" smtClean="0"/>
              <a:t>21/11/2025</a:t>
            </a:fld>
            <a:endParaRPr lang="id-ID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id-ID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d-ID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id-ID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0F4F9C0-29A6-4FB0-8E32-CD4539C3F66B}" type="slidenum">
              <a:rPr lang="id-ID" smtClean="0"/>
              <a:t>‹#›</a:t>
            </a:fld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67266197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d-ID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F4F9C0-29A6-4FB0-8E32-CD4539C3F66B}" type="slidenum">
              <a:rPr lang="id-ID" smtClean="0"/>
              <a:t>1</a:t>
            </a:fld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356232763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65FBEC-476A-E9D6-31F6-66B80E3C2D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C180006-5A34-C67A-998A-A666FE69B64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101F24C-4F9A-D4FA-B192-4CD7BD90F3B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d-ID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7A559FC-7CE8-D7D1-BCBB-9931D79E330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F4F9C0-29A6-4FB0-8E32-CD4539C3F66B}" type="slidenum">
              <a:rPr lang="id-ID" smtClean="0"/>
              <a:t>2</a:t>
            </a:fld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72504997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F92056-38D9-0FF3-52F6-E12F97A3B32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id-ID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C6F247A-CF8D-5BDA-B614-5BE316B01CD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id-ID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CE45EAF-4944-F327-6AC4-5BA8420CC4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CCB810-608F-4515-92B5-E5727C49A777}" type="datetimeFigureOut">
              <a:rPr lang="id-ID" smtClean="0"/>
              <a:t>21/11/2025</a:t>
            </a:fld>
            <a:endParaRPr lang="id-ID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8937314-CCE6-D814-494E-8E009AE8D8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d-ID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D69D8A1-C953-6353-67EA-19D39B56A3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1F0F72-05AF-4F10-B853-8E4B8F4B27DB}" type="slidenum">
              <a:rPr lang="id-ID" smtClean="0"/>
              <a:t>‹#›</a:t>
            </a:fld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376025596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61130C-2922-8D82-D323-793AD3AFD7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id-ID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C43FB35-41DC-98E8-84A0-42A4C6E50DE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d-ID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D597DA9-A791-9F21-D08F-8D02FFEF73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CCB810-608F-4515-92B5-E5727C49A777}" type="datetimeFigureOut">
              <a:rPr lang="id-ID" smtClean="0"/>
              <a:t>21/11/2025</a:t>
            </a:fld>
            <a:endParaRPr lang="id-ID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284437B-1FE1-53F0-ABBB-92C9E8C46A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d-ID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B57287F-4F6D-33DA-E594-40EA5ECF7A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1F0F72-05AF-4F10-B853-8E4B8F4B27DB}" type="slidenum">
              <a:rPr lang="id-ID" smtClean="0"/>
              <a:t>‹#›</a:t>
            </a:fld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295381248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945C09-C71B-3569-0150-3CA0F11969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id-ID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12BA818-F661-DDF1-253C-3FA7D9CF647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EDADC7D-2972-35BC-8855-FA1D9259BD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CCB810-608F-4515-92B5-E5727C49A777}" type="datetimeFigureOut">
              <a:rPr lang="id-ID" smtClean="0"/>
              <a:t>21/11/2025</a:t>
            </a:fld>
            <a:endParaRPr lang="id-ID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9727820-698A-7D34-B131-DBB7A034F4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d-ID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3A0E8CF-6A9E-2008-A3D6-BB051229A8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1F0F72-05AF-4F10-B853-8E4B8F4B27DB}" type="slidenum">
              <a:rPr lang="id-ID" smtClean="0"/>
              <a:t>‹#›</a:t>
            </a:fld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363265395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7F9799-1E84-6400-5E25-4FE6EBE14B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id-ID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700C23B-CE70-5434-58F6-944F9C77EF4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d-ID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42A9825-ECD0-D78A-3BB9-F6329DE88D1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d-ID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240176C-A1E9-5998-F693-7218E95011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CCB810-608F-4515-92B5-E5727C49A777}" type="datetimeFigureOut">
              <a:rPr lang="id-ID" smtClean="0"/>
              <a:t>21/11/2025</a:t>
            </a:fld>
            <a:endParaRPr lang="id-ID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33F0141-D6AA-3A6F-9771-5B1E7C4401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d-ID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61C8BAE-F64C-3C7E-F607-D8B5A6E904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1F0F72-05AF-4F10-B853-8E4B8F4B27DB}" type="slidenum">
              <a:rPr lang="id-ID" smtClean="0"/>
              <a:t>‹#›</a:t>
            </a:fld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175776410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D5EB69-FB11-6CA9-0258-D4FA2D6D36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id-ID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CA2780-D4C1-786C-1473-2B5FFDB0235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AAB1711-C4A7-5C99-CC89-183B7AA4320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d-ID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A7C36B4-E8FF-F2D6-9F91-660EEE1E65A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2BAF018-D2AD-D7CB-BC3F-86023456381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d-ID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00ED102-4BB7-046E-732C-6596067101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CCB810-608F-4515-92B5-E5727C49A777}" type="datetimeFigureOut">
              <a:rPr lang="id-ID" smtClean="0"/>
              <a:t>21/11/2025</a:t>
            </a:fld>
            <a:endParaRPr lang="id-ID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89CE587-3A54-8B1C-3378-57745E2BA7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d-ID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83F14ED-9F17-91F0-C94E-5920CF5F63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1F0F72-05AF-4F10-B853-8E4B8F4B27DB}" type="slidenum">
              <a:rPr lang="id-ID" smtClean="0"/>
              <a:t>‹#›</a:t>
            </a:fld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291413715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992ABF-1B55-16F4-E1CC-C3289D2B5E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id-ID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5A944C8-00E0-877D-16B1-8E4DDC9FAE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CCB810-608F-4515-92B5-E5727C49A777}" type="datetimeFigureOut">
              <a:rPr lang="id-ID" smtClean="0"/>
              <a:t>21/11/2025</a:t>
            </a:fld>
            <a:endParaRPr lang="id-ID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FF6032F-7AE6-0011-0BDB-BFC0BF954C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d-ID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92D61A3-485B-F631-7429-F89D015254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1F0F72-05AF-4F10-B853-8E4B8F4B27DB}" type="slidenum">
              <a:rPr lang="id-ID" smtClean="0"/>
              <a:t>‹#›</a:t>
            </a:fld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274748983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5730AC7-ED3A-619A-8833-A347E6DE44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CCB810-608F-4515-92B5-E5727C49A777}" type="datetimeFigureOut">
              <a:rPr lang="id-ID" smtClean="0"/>
              <a:t>21/11/2025</a:t>
            </a:fld>
            <a:endParaRPr lang="id-ID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754E83B-6333-DB8A-03DF-597963C20F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d-ID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3F1A203-CE48-0153-7C0A-0AE679538A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1F0F72-05AF-4F10-B853-8E4B8F4B27DB}" type="slidenum">
              <a:rPr lang="id-ID" smtClean="0"/>
              <a:t>‹#›</a:t>
            </a:fld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231690881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D91CE2-647D-3A39-9EC3-18CA7EF75B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id-ID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AD3972-E85D-E8DE-5DCB-C14CB47191E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d-ID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47B76FE-C711-A0E5-E992-89D3E60145A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44486EB-3AF0-4557-7E29-F83D2003FA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CCB810-608F-4515-92B5-E5727C49A777}" type="datetimeFigureOut">
              <a:rPr lang="id-ID" smtClean="0"/>
              <a:t>21/11/2025</a:t>
            </a:fld>
            <a:endParaRPr lang="id-ID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3E206C2-0700-B264-2D78-A3676A9A4B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d-ID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2B23EBF-862D-F630-81E5-0FA4089907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1F0F72-05AF-4F10-B853-8E4B8F4B27DB}" type="slidenum">
              <a:rPr lang="id-ID" smtClean="0"/>
              <a:t>‹#›</a:t>
            </a:fld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412897082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6745A4-4CE9-A257-4EED-471358063A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id-ID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F1DE0C6-5CE9-ED0C-8973-B163C8DE298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id-ID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CAB6A54-C01E-064A-3676-0360E2B1BEC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853ED89-5B5D-7DB8-5218-F2EB368912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CCB810-608F-4515-92B5-E5727C49A777}" type="datetimeFigureOut">
              <a:rPr lang="id-ID" smtClean="0"/>
              <a:t>21/11/2025</a:t>
            </a:fld>
            <a:endParaRPr lang="id-ID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BDD49FE-6D48-2076-FCDF-7CFA14910C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d-ID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EC7CBF0-40C6-5157-58E1-B009DFE0BB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1F0F72-05AF-4F10-B853-8E4B8F4B27DB}" type="slidenum">
              <a:rPr lang="id-ID" smtClean="0"/>
              <a:t>‹#›</a:t>
            </a:fld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428335819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2136D7-8C3A-4701-0F0E-0E31E0371A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id-ID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207666D-2BD9-BDA6-CD57-187C32F7645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d-ID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8093678-D095-36D7-B4DB-890C41D78F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CCB810-608F-4515-92B5-E5727C49A777}" type="datetimeFigureOut">
              <a:rPr lang="id-ID" smtClean="0"/>
              <a:t>21/11/2025</a:t>
            </a:fld>
            <a:endParaRPr lang="id-ID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0521DDB-7351-EC16-40CD-0BA675A023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d-ID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4C88EA-131B-C950-1325-0A7475F96D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1F0F72-05AF-4F10-B853-8E4B8F4B27DB}" type="slidenum">
              <a:rPr lang="id-ID" smtClean="0"/>
              <a:t>‹#›</a:t>
            </a:fld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7332874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006E5CA-782C-2E1F-D16E-8004AD2DF64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id-ID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0753E73-1AE9-A326-BED3-6DC9852836D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d-ID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1CC616-F505-750C-654F-1CE63100AA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CCB810-608F-4515-92B5-E5727C49A777}" type="datetimeFigureOut">
              <a:rPr lang="id-ID" smtClean="0"/>
              <a:t>21/11/2025</a:t>
            </a:fld>
            <a:endParaRPr lang="id-ID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F438DA4-16FD-A9BF-3F19-38EA9074AC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d-ID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CFE4830-D016-D9F3-5E63-07F579A687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1F0F72-05AF-4F10-B853-8E4B8F4B27DB}" type="slidenum">
              <a:rPr lang="id-ID" smtClean="0"/>
              <a:t>‹#›</a:t>
            </a:fld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385132424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56F2D6-F207-1333-78B9-8DB5ED4272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id-ID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E642A2B-2721-3E25-EF52-0F8164688D1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d-ID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15E191F-BD1B-72FD-636F-07292745AE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CCB810-608F-4515-92B5-E5727C49A777}" type="datetimeFigureOut">
              <a:rPr lang="id-ID" smtClean="0"/>
              <a:t>21/11/2025</a:t>
            </a:fld>
            <a:endParaRPr lang="id-ID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A6A87DC-11A3-8256-1A8B-DA59C5FF38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d-ID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B3D7D1C-6B29-496C-8967-979C7C54C5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1F0F72-05AF-4F10-B853-8E4B8F4B27DB}" type="slidenum">
              <a:rPr lang="id-ID" smtClean="0"/>
              <a:t>‹#›</a:t>
            </a:fld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309616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99C3CB0-D6B8-381E-3356-758008D757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id-ID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4830798-9933-8F27-658A-E51BF483A28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d-ID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576FEC6-ABB4-D19D-10DD-7E6E252D3D8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CCB810-608F-4515-92B5-E5727C49A777}" type="datetimeFigureOut">
              <a:rPr lang="id-ID" smtClean="0"/>
              <a:t>21/11/2025</a:t>
            </a:fld>
            <a:endParaRPr lang="id-ID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E1E0008-91E2-7330-54BF-7B2C747C81D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id-ID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7C7AAE6-21A2-B66E-3429-81C747757E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81F0F72-05AF-4F10-B853-8E4B8F4B27DB}" type="slidenum">
              <a:rPr lang="id-ID" smtClean="0"/>
              <a:t>‹#›</a:t>
            </a:fld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207590936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id-ID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3.png"/><Relationship Id="rId4" Type="http://schemas.openxmlformats.org/officeDocument/2006/relationships/image" Target="../media/image2.jp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3.png"/><Relationship Id="rId4" Type="http://schemas.openxmlformats.org/officeDocument/2006/relationships/image" Target="../media/image2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8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Isosceles Triangle 14">
            <a:extLst>
              <a:ext uri="{FF2B5EF4-FFF2-40B4-BE49-F238E27FC236}">
                <a16:creationId xmlns:a16="http://schemas.microsoft.com/office/drawing/2014/main" id="{7126886E-7002-2B00-1E53-86D99E96C5E6}"/>
              </a:ext>
            </a:extLst>
          </p:cNvPr>
          <p:cNvSpPr/>
          <p:nvPr/>
        </p:nvSpPr>
        <p:spPr>
          <a:xfrm>
            <a:off x="-603738" y="2795954"/>
            <a:ext cx="5260732" cy="5239172"/>
          </a:xfrm>
          <a:prstGeom prst="triangle">
            <a:avLst/>
          </a:prstGeom>
          <a:blipFill dpi="0" rotWithShape="0">
            <a:blip r:embed="rId3"/>
            <a:srcRect/>
            <a:stretch>
              <a:fillRect l="428" t="-3327" r="-39022" b="12603"/>
            </a:stretch>
          </a:blipFill>
          <a:ln>
            <a:noFill/>
          </a:ln>
          <a:effectLst>
            <a:innerShdw blurRad="63500" dist="50800" dir="16200000">
              <a:prstClr val="black">
                <a:alpha val="50000"/>
              </a:prstClr>
            </a:inn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d-ID"/>
          </a:p>
        </p:txBody>
      </p:sp>
      <p:sp>
        <p:nvSpPr>
          <p:cNvPr id="16" name="Isosceles Triangle 15">
            <a:extLst>
              <a:ext uri="{FF2B5EF4-FFF2-40B4-BE49-F238E27FC236}">
                <a16:creationId xmlns:a16="http://schemas.microsoft.com/office/drawing/2014/main" id="{9A8F16BB-5E3C-325A-7A40-410B612EB0D7}"/>
              </a:ext>
            </a:extLst>
          </p:cNvPr>
          <p:cNvSpPr/>
          <p:nvPr/>
        </p:nvSpPr>
        <p:spPr>
          <a:xfrm flipV="1">
            <a:off x="1137499" y="-47216"/>
            <a:ext cx="5948287" cy="5923909"/>
          </a:xfrm>
          <a:prstGeom prst="triangle">
            <a:avLst/>
          </a:prstGeom>
          <a:blipFill dpi="0" rotWithShape="0">
            <a:blip r:embed="rId4"/>
            <a:srcRect/>
            <a:stretch>
              <a:fillRect l="-1419" t="-1479" r="-32727" b="-1193"/>
            </a:stretch>
          </a:blipFill>
          <a:ln>
            <a:noFill/>
          </a:ln>
          <a:effectLst>
            <a:innerShdw blurRad="63500" dist="50800" dir="16200000">
              <a:prstClr val="black">
                <a:alpha val="50000"/>
              </a:prstClr>
            </a:inn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d-ID"/>
          </a:p>
        </p:txBody>
      </p:sp>
      <p:sp>
        <p:nvSpPr>
          <p:cNvPr id="17" name="Isosceles Triangle 16">
            <a:extLst>
              <a:ext uri="{FF2B5EF4-FFF2-40B4-BE49-F238E27FC236}">
                <a16:creationId xmlns:a16="http://schemas.microsoft.com/office/drawing/2014/main" id="{62349B1E-5BB3-4D64-9F5F-2E794F05B95B}"/>
              </a:ext>
            </a:extLst>
          </p:cNvPr>
          <p:cNvSpPr/>
          <p:nvPr/>
        </p:nvSpPr>
        <p:spPr>
          <a:xfrm>
            <a:off x="3847169" y="4182637"/>
            <a:ext cx="3108676" cy="3095936"/>
          </a:xfrm>
          <a:prstGeom prst="triangle">
            <a:avLst/>
          </a:prstGeom>
          <a:blipFill>
            <a:blip r:embed="rId5"/>
            <a:stretch>
              <a:fillRect l="-37709" t="-7001" r="-13353" b="13352"/>
            </a:stretch>
          </a:blipFill>
          <a:ln>
            <a:noFill/>
          </a:ln>
          <a:effectLst>
            <a:innerShdw blurRad="63500" dist="50800" dir="10800000">
              <a:prstClr val="black">
                <a:alpha val="50000"/>
              </a:prstClr>
            </a:inn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d-ID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A2999A2-5967-AD6D-F9A1-F5C2B9458365}"/>
              </a:ext>
            </a:extLst>
          </p:cNvPr>
          <p:cNvSpPr txBox="1"/>
          <p:nvPr/>
        </p:nvSpPr>
        <p:spPr>
          <a:xfrm>
            <a:off x="7119445" y="1248508"/>
            <a:ext cx="4982243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6000">
                <a:latin typeface="Bahnschrift Light" panose="020B0502040204020203" pitchFamily="34" charset="0"/>
              </a:rPr>
              <a:t>GROUPWARE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79959179-7CD9-891D-9EF4-70BD566E64E1}"/>
              </a:ext>
            </a:extLst>
          </p:cNvPr>
          <p:cNvSpPr/>
          <p:nvPr/>
        </p:nvSpPr>
        <p:spPr>
          <a:xfrm flipV="1">
            <a:off x="7281747" y="4016305"/>
            <a:ext cx="1159726" cy="53889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d-ID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4E1C92E-ACAE-AFDD-BAA6-75BC26B0ACC9}"/>
              </a:ext>
            </a:extLst>
          </p:cNvPr>
          <p:cNvSpPr txBox="1"/>
          <p:nvPr/>
        </p:nvSpPr>
        <p:spPr>
          <a:xfrm>
            <a:off x="7223475" y="4182637"/>
            <a:ext cx="4696028" cy="169277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>
                <a:solidFill>
                  <a:schemeClr val="accent1">
                    <a:lumMod val="50000"/>
                  </a:schemeClr>
                </a:solidFill>
                <a:latin typeface="Bahnschrift Light" panose="020B0502040204020203" pitchFamily="34" charset="0"/>
              </a:rPr>
              <a:t>KELOMPOK 1 :</a:t>
            </a:r>
            <a:endParaRPr lang="en-US" sz="2000">
              <a:solidFill>
                <a:schemeClr val="accent1">
                  <a:lumMod val="50000"/>
                </a:schemeClr>
              </a:solidFill>
              <a:latin typeface="Bahnschrift Light" panose="020B0502040204020203" pitchFamily="34" charset="0"/>
            </a:endParaRPr>
          </a:p>
          <a:p>
            <a:r>
              <a:rPr lang="en-US" sz="2000">
                <a:solidFill>
                  <a:schemeClr val="accent1">
                    <a:lumMod val="50000"/>
                  </a:schemeClr>
                </a:solidFill>
                <a:latin typeface="Bahnschrift Light" panose="020B0502040204020203" pitchFamily="34" charset="0"/>
              </a:rPr>
              <a:t>NAZRIL (3851)</a:t>
            </a:r>
          </a:p>
          <a:p>
            <a:r>
              <a:rPr lang="en-US" sz="2000">
                <a:solidFill>
                  <a:schemeClr val="accent1">
                    <a:lumMod val="50000"/>
                  </a:schemeClr>
                </a:solidFill>
                <a:latin typeface="Bahnschrift Light" panose="020B0502040204020203" pitchFamily="34" charset="0"/>
              </a:rPr>
              <a:t>AKMAL (3863)</a:t>
            </a:r>
          </a:p>
          <a:p>
            <a:r>
              <a:rPr lang="en-US" sz="2000">
                <a:solidFill>
                  <a:schemeClr val="accent1">
                    <a:lumMod val="50000"/>
                  </a:schemeClr>
                </a:solidFill>
                <a:latin typeface="Bahnschrift Light" panose="020B0502040204020203" pitchFamily="34" charset="0"/>
              </a:rPr>
              <a:t>JONATHAN (3844)</a:t>
            </a:r>
          </a:p>
          <a:p>
            <a:r>
              <a:rPr lang="en-US" sz="2000">
                <a:solidFill>
                  <a:schemeClr val="accent1">
                    <a:lumMod val="50000"/>
                  </a:schemeClr>
                </a:solidFill>
                <a:latin typeface="Bahnschrift Light" panose="020B0502040204020203" pitchFamily="34" charset="0"/>
              </a:rPr>
              <a:t>VALENTINUS (3876)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8AC26F4-6652-187C-9A20-AA02F553E0EF}"/>
              </a:ext>
            </a:extLst>
          </p:cNvPr>
          <p:cNvSpPr txBox="1"/>
          <p:nvPr/>
        </p:nvSpPr>
        <p:spPr>
          <a:xfrm>
            <a:off x="7119445" y="2841695"/>
            <a:ext cx="4982243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6000">
                <a:latin typeface="Bahnschrift Light" panose="020B0502040204020203" pitchFamily="34" charset="0"/>
              </a:rPr>
              <a:t>CSCW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83BB1411-7C56-B3C0-0C3F-4792F8998E13}"/>
              </a:ext>
            </a:extLst>
          </p:cNvPr>
          <p:cNvSpPr txBox="1"/>
          <p:nvPr/>
        </p:nvSpPr>
        <p:spPr>
          <a:xfrm>
            <a:off x="7119445" y="2168213"/>
            <a:ext cx="4982243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>
                <a:solidFill>
                  <a:schemeClr val="accent1">
                    <a:lumMod val="75000"/>
                  </a:schemeClr>
                </a:solidFill>
                <a:latin typeface="Bahnschrift Light" panose="020B0502040204020203" pitchFamily="34" charset="0"/>
              </a:rPr>
              <a:t>AND</a:t>
            </a:r>
            <a:endParaRPr lang="en-US" sz="6000">
              <a:solidFill>
                <a:schemeClr val="accent1">
                  <a:lumMod val="75000"/>
                </a:schemeClr>
              </a:solidFill>
              <a:latin typeface="Bahnschrift Light" panose="020B0502040204020203" pitchFamily="34" charset="0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7F1701CB-4C01-F595-E98B-E04860B02031}"/>
              </a:ext>
            </a:extLst>
          </p:cNvPr>
          <p:cNvSpPr txBox="1"/>
          <p:nvPr/>
        </p:nvSpPr>
        <p:spPr>
          <a:xfrm>
            <a:off x="-5648196" y="191729"/>
            <a:ext cx="1065465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>
                <a:latin typeface="Bahnschrift Light" panose="020B0502040204020203" pitchFamily="34" charset="0"/>
              </a:rPr>
              <a:t>DEFINISI GROUPWARE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7BFDE98F-ADE3-1C28-4F41-79F27DE22177}"/>
              </a:ext>
            </a:extLst>
          </p:cNvPr>
          <p:cNvSpPr/>
          <p:nvPr/>
        </p:nvSpPr>
        <p:spPr>
          <a:xfrm>
            <a:off x="-10323435" y="907689"/>
            <a:ext cx="5412220" cy="45719"/>
          </a:xfrm>
          <a:prstGeom prst="rect">
            <a:avLst/>
          </a:prstGeom>
          <a:solidFill>
            <a:srgbClr val="2D294B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298708358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8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223D0B1-86D0-CD2E-44E7-CD1043E689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Isosceles Triangle 14">
            <a:extLst>
              <a:ext uri="{FF2B5EF4-FFF2-40B4-BE49-F238E27FC236}">
                <a16:creationId xmlns:a16="http://schemas.microsoft.com/office/drawing/2014/main" id="{0835E417-AB2E-4F8E-FC1D-91D6BC3B30F5}"/>
              </a:ext>
            </a:extLst>
          </p:cNvPr>
          <p:cNvSpPr/>
          <p:nvPr/>
        </p:nvSpPr>
        <p:spPr>
          <a:xfrm>
            <a:off x="-603738" y="7943691"/>
            <a:ext cx="5260732" cy="5239172"/>
          </a:xfrm>
          <a:prstGeom prst="triangle">
            <a:avLst/>
          </a:prstGeom>
          <a:blipFill dpi="0" rotWithShape="0">
            <a:blip r:embed="rId3"/>
            <a:srcRect/>
            <a:stretch>
              <a:fillRect l="428" t="-3327" r="-39022" b="12603"/>
            </a:stretch>
          </a:blipFill>
          <a:ln>
            <a:noFill/>
          </a:ln>
          <a:effectLst>
            <a:innerShdw blurRad="63500" dist="50800" dir="16200000">
              <a:prstClr val="black">
                <a:alpha val="50000"/>
              </a:prstClr>
            </a:inn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d-ID"/>
          </a:p>
        </p:txBody>
      </p:sp>
      <p:sp>
        <p:nvSpPr>
          <p:cNvPr id="16" name="Isosceles Triangle 15">
            <a:extLst>
              <a:ext uri="{FF2B5EF4-FFF2-40B4-BE49-F238E27FC236}">
                <a16:creationId xmlns:a16="http://schemas.microsoft.com/office/drawing/2014/main" id="{400A328F-912B-8017-6682-C34A369A0887}"/>
              </a:ext>
            </a:extLst>
          </p:cNvPr>
          <p:cNvSpPr/>
          <p:nvPr/>
        </p:nvSpPr>
        <p:spPr>
          <a:xfrm flipV="1">
            <a:off x="1137499" y="-6888288"/>
            <a:ext cx="5948287" cy="5923909"/>
          </a:xfrm>
          <a:prstGeom prst="triangle">
            <a:avLst/>
          </a:prstGeom>
          <a:blipFill dpi="0" rotWithShape="0">
            <a:blip r:embed="rId4"/>
            <a:srcRect/>
            <a:stretch>
              <a:fillRect l="-1419" t="-1479" r="-32727" b="-1193"/>
            </a:stretch>
          </a:blipFill>
          <a:ln>
            <a:noFill/>
          </a:ln>
          <a:effectLst>
            <a:innerShdw blurRad="63500" dist="50800" dir="16200000">
              <a:prstClr val="black">
                <a:alpha val="50000"/>
              </a:prstClr>
            </a:inn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d-ID"/>
          </a:p>
        </p:txBody>
      </p:sp>
      <p:sp>
        <p:nvSpPr>
          <p:cNvPr id="17" name="Isosceles Triangle 16">
            <a:extLst>
              <a:ext uri="{FF2B5EF4-FFF2-40B4-BE49-F238E27FC236}">
                <a16:creationId xmlns:a16="http://schemas.microsoft.com/office/drawing/2014/main" id="{E58AF706-5955-20D0-6413-12C4438ABA9F}"/>
              </a:ext>
            </a:extLst>
          </p:cNvPr>
          <p:cNvSpPr/>
          <p:nvPr/>
        </p:nvSpPr>
        <p:spPr>
          <a:xfrm>
            <a:off x="3847169" y="9330374"/>
            <a:ext cx="3108676" cy="3095936"/>
          </a:xfrm>
          <a:prstGeom prst="triangle">
            <a:avLst/>
          </a:prstGeom>
          <a:blipFill>
            <a:blip r:embed="rId5"/>
            <a:stretch>
              <a:fillRect l="-37709" t="-7001" r="-13353" b="13352"/>
            </a:stretch>
          </a:blipFill>
          <a:ln>
            <a:noFill/>
          </a:ln>
          <a:effectLst>
            <a:innerShdw blurRad="63500" dist="50800" dir="10800000">
              <a:prstClr val="black">
                <a:alpha val="50000"/>
              </a:prstClr>
            </a:inn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d-ID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CEC8E032-1051-725B-6D41-B153D402910B}"/>
              </a:ext>
            </a:extLst>
          </p:cNvPr>
          <p:cNvSpPr/>
          <p:nvPr/>
        </p:nvSpPr>
        <p:spPr>
          <a:xfrm flipV="1">
            <a:off x="14759184" y="4016305"/>
            <a:ext cx="1159726" cy="53889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d-ID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EF7A1CC-E29E-4B99-DEEE-BBFF8B907AEF}"/>
              </a:ext>
            </a:extLst>
          </p:cNvPr>
          <p:cNvSpPr txBox="1"/>
          <p:nvPr/>
        </p:nvSpPr>
        <p:spPr>
          <a:xfrm>
            <a:off x="13137579" y="4182637"/>
            <a:ext cx="4696028" cy="169277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>
                <a:solidFill>
                  <a:schemeClr val="accent1">
                    <a:lumMod val="50000"/>
                  </a:schemeClr>
                </a:solidFill>
                <a:latin typeface="Bahnschrift Light" panose="020B0502040204020203" pitchFamily="34" charset="0"/>
              </a:rPr>
              <a:t>KELOMPOK 1 :</a:t>
            </a:r>
            <a:endParaRPr lang="en-US" sz="2000">
              <a:solidFill>
                <a:schemeClr val="accent1">
                  <a:lumMod val="50000"/>
                </a:schemeClr>
              </a:solidFill>
              <a:latin typeface="Bahnschrift Light" panose="020B0502040204020203" pitchFamily="34" charset="0"/>
            </a:endParaRPr>
          </a:p>
          <a:p>
            <a:r>
              <a:rPr lang="en-US" sz="2000">
                <a:solidFill>
                  <a:schemeClr val="accent1">
                    <a:lumMod val="50000"/>
                  </a:schemeClr>
                </a:solidFill>
                <a:latin typeface="Bahnschrift Light" panose="020B0502040204020203" pitchFamily="34" charset="0"/>
              </a:rPr>
              <a:t>NAZRIL (3851)</a:t>
            </a:r>
          </a:p>
          <a:p>
            <a:r>
              <a:rPr lang="en-US" sz="2000">
                <a:solidFill>
                  <a:schemeClr val="accent1">
                    <a:lumMod val="50000"/>
                  </a:schemeClr>
                </a:solidFill>
                <a:latin typeface="Bahnschrift Light" panose="020B0502040204020203" pitchFamily="34" charset="0"/>
              </a:rPr>
              <a:t>AKMAL (3863)</a:t>
            </a:r>
          </a:p>
          <a:p>
            <a:r>
              <a:rPr lang="en-US" sz="2000">
                <a:solidFill>
                  <a:schemeClr val="accent1">
                    <a:lumMod val="50000"/>
                  </a:schemeClr>
                </a:solidFill>
                <a:latin typeface="Bahnschrift Light" panose="020B0502040204020203" pitchFamily="34" charset="0"/>
              </a:rPr>
              <a:t>JONATHAN (3844)</a:t>
            </a:r>
          </a:p>
          <a:p>
            <a:r>
              <a:rPr lang="en-US" sz="2000">
                <a:solidFill>
                  <a:schemeClr val="accent1">
                    <a:lumMod val="50000"/>
                  </a:schemeClr>
                </a:solidFill>
                <a:latin typeface="Bahnschrift Light" panose="020B0502040204020203" pitchFamily="34" charset="0"/>
              </a:rPr>
              <a:t>VALENTINUS (3876)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1F0F88A4-E162-04C6-1085-A0025596EDCB}"/>
              </a:ext>
            </a:extLst>
          </p:cNvPr>
          <p:cNvSpPr txBox="1"/>
          <p:nvPr/>
        </p:nvSpPr>
        <p:spPr>
          <a:xfrm>
            <a:off x="15172067" y="2841695"/>
            <a:ext cx="4982243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6000">
                <a:latin typeface="Bahnschrift Light" panose="020B0502040204020203" pitchFamily="34" charset="0"/>
              </a:rPr>
              <a:t>CSCW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2276950D-6C50-0C6B-BE5C-F8B071C255D8}"/>
              </a:ext>
            </a:extLst>
          </p:cNvPr>
          <p:cNvSpPr txBox="1"/>
          <p:nvPr/>
        </p:nvSpPr>
        <p:spPr>
          <a:xfrm>
            <a:off x="16862674" y="2168213"/>
            <a:ext cx="4982243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>
                <a:solidFill>
                  <a:schemeClr val="accent1">
                    <a:lumMod val="75000"/>
                  </a:schemeClr>
                </a:solidFill>
                <a:latin typeface="Bahnschrift Light" panose="020B0502040204020203" pitchFamily="34" charset="0"/>
              </a:rPr>
              <a:t>AND</a:t>
            </a:r>
            <a:endParaRPr lang="en-US" sz="6000">
              <a:solidFill>
                <a:schemeClr val="accent1">
                  <a:lumMod val="75000"/>
                </a:schemeClr>
              </a:solidFill>
              <a:latin typeface="Bahnschrift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1EC4782-12C6-EFA7-56DB-39F8A2D1D503}"/>
              </a:ext>
            </a:extLst>
          </p:cNvPr>
          <p:cNvSpPr txBox="1"/>
          <p:nvPr/>
        </p:nvSpPr>
        <p:spPr>
          <a:xfrm>
            <a:off x="17944766" y="1248508"/>
            <a:ext cx="4982243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6000">
                <a:latin typeface="Bahnschrift Light" panose="020B0502040204020203" pitchFamily="34" charset="0"/>
              </a:rPr>
              <a:t>GROUPWARE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AF4CD77-6E81-DB32-9212-57CEBAC13E5F}"/>
              </a:ext>
            </a:extLst>
          </p:cNvPr>
          <p:cNvSpPr txBox="1"/>
          <p:nvPr/>
        </p:nvSpPr>
        <p:spPr>
          <a:xfrm>
            <a:off x="206915" y="191729"/>
            <a:ext cx="1065465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>
                <a:latin typeface="Bahnschrift Light" panose="020B0502040204020203" pitchFamily="34" charset="0"/>
              </a:rPr>
              <a:t>DEFINISI GROUPWARE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71B483A-E9ED-33FF-6295-D3AC554E4C7C}"/>
              </a:ext>
            </a:extLst>
          </p:cNvPr>
          <p:cNvSpPr/>
          <p:nvPr/>
        </p:nvSpPr>
        <p:spPr>
          <a:xfrm>
            <a:off x="339651" y="907689"/>
            <a:ext cx="5412220" cy="45719"/>
          </a:xfrm>
          <a:prstGeom prst="rect">
            <a:avLst/>
          </a:prstGeom>
          <a:solidFill>
            <a:srgbClr val="2D294B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d-ID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FEDB031-7A78-EDAA-C21B-E5F3F50FF0CD}"/>
              </a:ext>
            </a:extLst>
          </p:cNvPr>
          <p:cNvSpPr txBox="1"/>
          <p:nvPr/>
        </p:nvSpPr>
        <p:spPr>
          <a:xfrm>
            <a:off x="206915" y="1363225"/>
            <a:ext cx="9026013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id-ID" sz="2800">
                <a:latin typeface="Bahnschrift Light" panose="020B0502040204020203" pitchFamily="34" charset="0"/>
              </a:rPr>
              <a:t>Groupware adalah software yang didesain dan dibuat untuk membantu kolaborasi antar manusia seperti penyebaran informasi dan komunikasi antar user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75DCA98-3DBA-8562-3B4C-88F2469F89B1}"/>
              </a:ext>
            </a:extLst>
          </p:cNvPr>
          <p:cNvSpPr txBox="1"/>
          <p:nvPr/>
        </p:nvSpPr>
        <p:spPr>
          <a:xfrm>
            <a:off x="206914" y="3293257"/>
            <a:ext cx="9026013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id-ID" sz="2800">
                <a:latin typeface="Bahnschrift Light" panose="020B0502040204020203" pitchFamily="34" charset="0"/>
              </a:rPr>
              <a:t>Groupware adalah software yang didesain dan dibuat untuk membantu kolaborasi antar manusia seperti penyebaran informasi dan komunikasi antar user</a:t>
            </a:r>
          </a:p>
        </p:txBody>
      </p:sp>
    </p:spTree>
    <p:extLst>
      <p:ext uri="{BB962C8B-B14F-4D97-AF65-F5344CB8AC3E}">
        <p14:creationId xmlns:p14="http://schemas.microsoft.com/office/powerpoint/2010/main" val="3451152151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50">
        <p159:morph option="byObject"/>
      </p:transition>
    </mc:Choice>
    <mc:Fallback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HCI-Presentasi-Kelompok1</Template>
  <TotalTime>87</TotalTime>
  <Words>88</Words>
  <Application>Microsoft Office PowerPoint</Application>
  <PresentationFormat>Widescreen</PresentationFormat>
  <Paragraphs>22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7" baseType="lpstr">
      <vt:lpstr>Arial</vt:lpstr>
      <vt:lpstr>Bahnschrift Light</vt:lpstr>
      <vt:lpstr>Calibri</vt:lpstr>
      <vt:lpstr>Calibri Light</vt:lpstr>
      <vt:lpstr>Office Theme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Jonathan Andrew</dc:creator>
  <cp:lastModifiedBy>Jonathan Andrew</cp:lastModifiedBy>
  <cp:revision>14</cp:revision>
  <dcterms:created xsi:type="dcterms:W3CDTF">2025-11-21T04:37:07Z</dcterms:created>
  <dcterms:modified xsi:type="dcterms:W3CDTF">2025-11-21T07:20:17Z</dcterms:modified>
</cp:coreProperties>
</file>